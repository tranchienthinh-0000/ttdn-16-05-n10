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18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3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3018" y="60"/>
      </p:cViewPr>
      <p:guideLst>
        <p:guide orient="horz" pos="3118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60735" y="1143000"/>
            <a:ext cx="2136531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5511AC-980B-485A-851E-DBD0B8F4CBAD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A2BFA2-7CEB-4D76-9663-917F13DE4B1E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6.png"/><Relationship Id="rId8" Type="http://schemas.openxmlformats.org/officeDocument/2006/relationships/image" Target="../media/image5.png"/><Relationship Id="rId7" Type="http://schemas.openxmlformats.org/officeDocument/2006/relationships/tags" Target="../tags/tag3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6" Type="http://schemas.openxmlformats.org/officeDocument/2006/relationships/notesSlide" Target="../notesSlides/notesSlide1.xml"/><Relationship Id="rId15" Type="http://schemas.openxmlformats.org/officeDocument/2006/relationships/slideLayout" Target="../slideLayouts/slideLayout1.xml"/><Relationship Id="rId14" Type="http://schemas.openxmlformats.org/officeDocument/2006/relationships/image" Target="../media/image11.png"/><Relationship Id="rId13" Type="http://schemas.openxmlformats.org/officeDocument/2006/relationships/image" Target="../media/image10.png"/><Relationship Id="rId12" Type="http://schemas.openxmlformats.org/officeDocument/2006/relationships/image" Target="../media/image9.png"/><Relationship Id="rId11" Type="http://schemas.openxmlformats.org/officeDocument/2006/relationships/image" Target="../media/image8.png"/><Relationship Id="rId10" Type="http://schemas.openxmlformats.org/officeDocument/2006/relationships/image" Target="../media/image7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roup 45"/>
          <p:cNvGrpSpPr/>
          <p:nvPr/>
        </p:nvGrpSpPr>
        <p:grpSpPr>
          <a:xfrm>
            <a:off x="5906870" y="1983416"/>
            <a:ext cx="833120" cy="213995"/>
            <a:chOff x="6046133" y="2181217"/>
            <a:chExt cx="833120" cy="216531"/>
          </a:xfrm>
        </p:grpSpPr>
        <p:sp>
          <p:nvSpPr>
            <p:cNvPr id="43" name="TextBox 42"/>
            <p:cNvSpPr txBox="1"/>
            <p:nvPr/>
          </p:nvSpPr>
          <p:spPr>
            <a:xfrm>
              <a:off x="6105823" y="2181217"/>
              <a:ext cx="773430" cy="2165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800" b="1" dirty="0" err="1">
                  <a:latin typeface="Arial Hebrew Scholar" pitchFamily="2" charset="-79"/>
                  <a:cs typeface="Arial Hebrew Scholar" pitchFamily="2" charset="-79"/>
                </a:rPr>
                <a:t> Github-N10</a:t>
              </a:r>
              <a:endParaRPr lang="en-US" sz="800" b="1" dirty="0">
                <a:latin typeface="Arial Hebrew Scholar" pitchFamily="2" charset="-79"/>
                <a:cs typeface="Arial Hebrew Scholar" pitchFamily="2" charset="-79"/>
              </a:endParaRPr>
            </a:p>
          </p:txBody>
        </p:sp>
        <p:pic>
          <p:nvPicPr>
            <p:cNvPr id="1028" name="Picture 4" descr="Github Logo - Free social media icons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 flipV="1">
              <a:off x="6046133" y="2197843"/>
              <a:ext cx="166522" cy="16652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aphicFrame>
        <p:nvGraphicFramePr>
          <p:cNvPr id="36" name="Table 35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71755" y="2356485"/>
          <a:ext cx="3890645" cy="74847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90645"/>
              </a:tblGrid>
              <a:tr h="311150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000" b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Giới thiệu</a:t>
                      </a:r>
                      <a:endParaRPr lang="en-US" sz="1000" b="1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F99"/>
                    </a:solidFill>
                  </a:tcPr>
                </a:tc>
              </a:tr>
              <a:tr h="2011680">
                <a:tc>
                  <a:txBody>
                    <a:bodyPr/>
                    <a:lstStyle/>
                    <a:p>
                      <a:pPr algn="just"/>
                      <a:r>
                        <a:rPr lang="en-US" alt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Hệ thống quản l</a:t>
                      </a:r>
                      <a:r>
                        <a:rPr lang="" alt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ý</a:t>
                      </a:r>
                      <a:r>
                        <a:rPr lang="en-US" alt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tài sản và phòng họp của tổ chức, gồm các chức n</a:t>
                      </a:r>
                      <a:r>
                        <a:rPr lang="" alt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ă</a:t>
                      </a:r>
                      <a:r>
                        <a:rPr lang="en-US" alt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ng chính:</a:t>
                      </a:r>
                      <a:endParaRPr lang="en-US" altLang="en-US" sz="9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171450" indent="-171450" algn="just">
                        <a:buFont typeface="Arial" panose="020B0604020202020204" pitchFamily="34" charset="0"/>
                        <a:buChar char="•"/>
                      </a:pPr>
                      <a:r>
                        <a:rPr lang="en-US" alt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Dashboard: tổng quan tài sản (loại/số l</a:t>
                      </a:r>
                      <a:r>
                        <a:rPr lang="" alt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ư</a:t>
                      </a:r>
                      <a:r>
                        <a:rPr lang="en-US" alt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ợng/giá trị/trạng thái) và phòng họp (trống/</a:t>
                      </a:r>
                      <a:r>
                        <a:rPr lang="" alt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đ</a:t>
                      </a:r>
                      <a:r>
                        <a:rPr lang="en-US" alt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ã duyệt/</a:t>
                      </a:r>
                      <a:r>
                        <a:rPr lang="" alt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đ</a:t>
                      </a:r>
                      <a:r>
                        <a:rPr lang="en-US" alt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ang sử dụng).</a:t>
                      </a:r>
                      <a:endParaRPr lang="en-US" altLang="en-US" sz="9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171450" indent="-171450" algn="just">
                        <a:buFont typeface="Arial" panose="020B0604020202020204" pitchFamily="34" charset="0"/>
                        <a:buChar char="•"/>
                      </a:pPr>
                      <a:r>
                        <a:rPr lang="en-US" alt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Quản l</a:t>
                      </a:r>
                      <a:r>
                        <a:rPr lang="" alt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ý</a:t>
                      </a:r>
                      <a:r>
                        <a:rPr lang="en-US" alt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danh mục: loại tài sản, tài sản; phòng họp (sức chứa, trạng thái), thiết bị.</a:t>
                      </a:r>
                      <a:endParaRPr lang="en-US" altLang="en-US" sz="9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171450" indent="-171450" algn="just">
                        <a:buFont typeface="Arial" panose="020B0604020202020204" pitchFamily="34" charset="0"/>
                        <a:buChar char="•"/>
                      </a:pPr>
                      <a:r>
                        <a:rPr lang="" alt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Đă</a:t>
                      </a:r>
                      <a:r>
                        <a:rPr lang="en-US" alt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ng k</a:t>
                      </a:r>
                      <a:r>
                        <a:rPr lang="" alt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ý</a:t>
                      </a:r>
                      <a:r>
                        <a:rPr lang="en-US" alt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m</a:t>
                      </a:r>
                      <a:r>
                        <a:rPr lang="" alt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ư</a:t>
                      </a:r>
                      <a:r>
                        <a:rPr lang="en-US" alt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ợn/cấp phát/</a:t>
                      </a:r>
                      <a:r>
                        <a:rPr lang="" alt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đ</a:t>
                      </a:r>
                      <a:r>
                        <a:rPr lang="en-US" alt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ặt phòng: quy trình phê duyệt – sử dụng – trả – hủy.</a:t>
                      </a:r>
                      <a:endParaRPr lang="en-US" altLang="en-US" sz="9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171450" indent="-171450" algn="just">
                        <a:buFont typeface="Arial" panose="020B0604020202020204" pitchFamily="34" charset="0"/>
                        <a:buChar char="•"/>
                      </a:pPr>
                      <a:r>
                        <a:rPr lang="en-US" alt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Trợ l</a:t>
                      </a:r>
                      <a:r>
                        <a:rPr lang="" alt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ý</a:t>
                      </a:r>
                      <a:r>
                        <a:rPr lang="en-US" alt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AI </a:t>
                      </a:r>
                      <a:r>
                        <a:rPr lang="" alt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đ</a:t>
                      </a:r>
                      <a:r>
                        <a:rPr lang="en-US" alt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ặt phòng: nhập yêu cầu tự nhiên, gợi </a:t>
                      </a:r>
                      <a:r>
                        <a:rPr lang="" alt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ý</a:t>
                      </a:r>
                      <a:r>
                        <a:rPr lang="en-US" alt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phòng/thiết bị phù hợp, tạo </a:t>
                      </a:r>
                      <a:r>
                        <a:rPr lang="" alt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đă</a:t>
                      </a:r>
                      <a:r>
                        <a:rPr lang="en-US" alt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ng k</a:t>
                      </a:r>
                      <a:r>
                        <a:rPr lang="" alt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ý</a:t>
                      </a:r>
                      <a:r>
                        <a:rPr lang="en-US" alt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nhanh.</a:t>
                      </a:r>
                      <a:endParaRPr lang="en-US" altLang="en-US" sz="9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171450" indent="-171450" algn="just">
                        <a:buFont typeface="Arial" panose="020B0604020202020204" pitchFamily="34" charset="0"/>
                        <a:buChar char="•"/>
                      </a:pPr>
                      <a:r>
                        <a:rPr lang="en-US" alt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Bảo trì &amp; nhận lại: cập nhật tình trạng tài sản/thiết bị.</a:t>
                      </a:r>
                      <a:endParaRPr lang="en-US" altLang="en-US" sz="9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171450" indent="-171450" algn="just">
                        <a:buFont typeface="Arial" panose="020B0604020202020204" pitchFamily="34" charset="0"/>
                        <a:buChar char="•"/>
                      </a:pPr>
                      <a:r>
                        <a:rPr lang="en-US" alt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Báo cáo &amp; audit: lịch sử m</a:t>
                      </a:r>
                      <a:r>
                        <a:rPr lang="" alt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ư</a:t>
                      </a:r>
                      <a:r>
                        <a:rPr lang="en-US" alt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ợn trả, nhật k</a:t>
                      </a:r>
                      <a:r>
                        <a:rPr lang="" alt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ý</a:t>
                      </a:r>
                      <a:r>
                        <a:rPr lang="en-US" alt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thay </a:t>
                      </a:r>
                      <a:r>
                        <a:rPr lang="" alt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đ</a:t>
                      </a:r>
                      <a:r>
                        <a:rPr lang="en-US" alt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ổi.</a:t>
                      </a:r>
                      <a:endParaRPr lang="en-US" altLang="en-US" sz="9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171450" indent="-171450" algn="just">
                        <a:buFont typeface="Arial" panose="020B0604020202020204" pitchFamily="34" charset="0"/>
                        <a:buChar char="•"/>
                      </a:pPr>
                      <a:r>
                        <a:rPr lang="en-US" alt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Nghiệp vụ nâng cao: kiểm kê, </a:t>
                      </a:r>
                      <a:r>
                        <a:rPr lang="" alt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đ</a:t>
                      </a:r>
                      <a:r>
                        <a:rPr lang="en-US" alt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iều chuyển, khấu hao, thanh l</a:t>
                      </a:r>
                      <a:r>
                        <a:rPr lang="" alt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ý</a:t>
                      </a:r>
                      <a:r>
                        <a:rPr lang="en-US" alt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  <a:endParaRPr lang="en-US" altLang="en-US" sz="9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794510">
                <a:tc>
                  <a:txBody>
                    <a:bodyPr/>
                    <a:p>
                      <a:pPr marL="171450" indent="-171450" algn="just">
                        <a:buFont typeface="Arial" panose="020B0604020202020204" pitchFamily="34" charset="0"/>
                        <a:buChar char="•"/>
                      </a:pPr>
                      <a:endParaRPr lang="en-US" altLang="en-US" sz="9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794510">
                <a:tc>
                  <a:txBody>
                    <a:bodyPr/>
                    <a:p>
                      <a:pPr marL="171450" indent="-171450" algn="just">
                        <a:buFont typeface="Arial" panose="020B0604020202020204" pitchFamily="34" charset="0"/>
                        <a:buChar char="•"/>
                      </a:pPr>
                      <a:endParaRPr lang="en-US" altLang="en-US" sz="9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572895">
                <a:tc>
                  <a:txBody>
                    <a:bodyPr/>
                    <a:p>
                      <a:pPr marL="171450" indent="-171450" algn="just">
                        <a:buFont typeface="Arial" panose="020B0604020202020204" pitchFamily="34" charset="0"/>
                        <a:buChar char="•"/>
                      </a:pPr>
                      <a:endParaRPr lang="en-US" altLang="en-US" sz="9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custDataLst>
              <p:tags r:id="rId3"/>
            </p:custDataLst>
          </p:nvPr>
        </p:nvGraphicFramePr>
        <p:xfrm>
          <a:off x="4027805" y="2359025"/>
          <a:ext cx="2789555" cy="24295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9555"/>
              </a:tblGrid>
              <a:tr h="330200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000" b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Kiến trúc hệ thống</a:t>
                      </a:r>
                      <a:endParaRPr lang="en-US" sz="1000" b="1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233F99"/>
                    </a:solidFill>
                  </a:tcPr>
                </a:tc>
              </a:tr>
              <a:tr h="209931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pSp>
        <p:nvGrpSpPr>
          <p:cNvPr id="70" name="Group 69"/>
          <p:cNvGrpSpPr/>
          <p:nvPr/>
        </p:nvGrpSpPr>
        <p:grpSpPr>
          <a:xfrm>
            <a:off x="-3465830" y="-39866"/>
            <a:ext cx="10323830" cy="2289646"/>
            <a:chOff x="-3465830" y="-40063"/>
            <a:chExt cx="10323830" cy="2289646"/>
          </a:xfrm>
        </p:grpSpPr>
        <p:grpSp>
          <p:nvGrpSpPr>
            <p:cNvPr id="27" name="Group 26"/>
            <p:cNvGrpSpPr/>
            <p:nvPr/>
          </p:nvGrpSpPr>
          <p:grpSpPr>
            <a:xfrm>
              <a:off x="-3465830" y="-40063"/>
              <a:ext cx="10323830" cy="1149907"/>
              <a:chOff x="-3465830" y="-40063"/>
              <a:chExt cx="10323830" cy="1149907"/>
            </a:xfrm>
          </p:grpSpPr>
          <p:pic>
            <p:nvPicPr>
              <p:cNvPr id="39" name="Picture 38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0" y="-1275"/>
                <a:ext cx="6858000" cy="1111119"/>
              </a:xfrm>
              <a:prstGeom prst="rect">
                <a:avLst/>
              </a:prstGeom>
            </p:spPr>
          </p:pic>
          <p:sp>
            <p:nvSpPr>
              <p:cNvPr id="40" name="TextBox 39"/>
              <p:cNvSpPr txBox="1"/>
              <p:nvPr/>
            </p:nvSpPr>
            <p:spPr>
              <a:xfrm>
                <a:off x="-3465830" y="-40063"/>
                <a:ext cx="10158095" cy="3987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8" algn="ctr"/>
                <a:r>
                  <a:rPr lang="en-US" sz="1000" b="1">
                    <a:solidFill>
                      <a:schemeClr val="bg1"/>
                    </a:solidFill>
                    <a:latin typeface="Arial Hebrew Scholar" pitchFamily="2" charset="-79"/>
                    <a:cs typeface="Arial Hebrew Scholar" pitchFamily="2" charset="-79"/>
                  </a:rPr>
                  <a:t>TRƯỜNG ĐẠI HỌC ĐẠI NAM</a:t>
                </a:r>
                <a:endParaRPr lang="en-US" sz="1000" b="1">
                  <a:solidFill>
                    <a:schemeClr val="bg1"/>
                  </a:solidFill>
                  <a:latin typeface="Arial Hebrew Scholar" pitchFamily="2" charset="-79"/>
                  <a:cs typeface="Arial Hebrew Scholar" pitchFamily="2" charset="-79"/>
                </a:endParaRPr>
              </a:p>
              <a:p>
                <a:pPr lvl="8" algn="ctr"/>
                <a:r>
                  <a:rPr lang="en-US" sz="1000" b="1">
                    <a:solidFill>
                      <a:schemeClr val="bg1"/>
                    </a:solidFill>
                    <a:latin typeface="Arial Hebrew Scholar" pitchFamily="2" charset="-79"/>
                    <a:cs typeface="Arial Hebrew Scholar" pitchFamily="2" charset="-79"/>
                  </a:rPr>
                  <a:t>KHOA CÔNG NGHỆ THÔNG TIN</a:t>
                </a:r>
                <a:endParaRPr lang="en-US" sz="1000" b="1">
                  <a:solidFill>
                    <a:schemeClr val="bg1"/>
                  </a:solidFill>
                  <a:latin typeface="Arial Hebrew Scholar" pitchFamily="2" charset="-79"/>
                  <a:cs typeface="Arial Hebrew Scholar" pitchFamily="2" charset="-79"/>
                </a:endParaRPr>
              </a:p>
            </p:txBody>
          </p:sp>
        </p:grpSp>
        <p:grpSp>
          <p:nvGrpSpPr>
            <p:cNvPr id="65" name="Group 64"/>
            <p:cNvGrpSpPr/>
            <p:nvPr/>
          </p:nvGrpSpPr>
          <p:grpSpPr>
            <a:xfrm>
              <a:off x="0" y="1082578"/>
              <a:ext cx="6858000" cy="1167005"/>
              <a:chOff x="0" y="1082578"/>
              <a:chExt cx="6858000" cy="1167005"/>
            </a:xfrm>
          </p:grpSpPr>
          <p:sp>
            <p:nvSpPr>
              <p:cNvPr id="5" name="Title 1"/>
              <p:cNvSpPr txBox="1"/>
              <p:nvPr/>
            </p:nvSpPr>
            <p:spPr>
              <a:xfrm>
                <a:off x="0" y="1082578"/>
                <a:ext cx="6765928" cy="329891"/>
              </a:xfrm>
              <a:prstGeom prst="rect">
                <a:avLst/>
              </a:prstGeom>
            </p:spPr>
            <p:txBody>
              <a:bodyPr vert="horz" lIns="20299" tIns="10150" rIns="20299" bIns="10150" rtlCol="0" anchor="ctr">
                <a:noAutofit/>
              </a:bodyPr>
              <a:lstStyle>
                <a:lvl1pPr algn="ctr" defTabSz="288036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189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en-US" sz="1200" b="1" dirty="0" err="1">
                    <a:solidFill>
                      <a:schemeClr val="accent2"/>
                    </a:solidFill>
                    <a:latin typeface="Arial Hebrew Scholar" pitchFamily="2" charset="-79"/>
                    <a:cs typeface="Arial Hebrew Scholar" pitchFamily="2" charset="-79"/>
                  </a:rPr>
                  <a:t>ERP: HỆ THỐNG QUẢN LÝ TÀI SẢN, PHÒNG HỌP</a:t>
                </a:r>
                <a:endParaRPr lang="en-US" sz="1200" b="1" dirty="0">
                  <a:solidFill>
                    <a:schemeClr val="accent2"/>
                  </a:solidFill>
                  <a:latin typeface="Arial Hebrew Scholar" pitchFamily="2" charset="-79"/>
                  <a:cs typeface="Arial Hebrew Scholar" pitchFamily="2" charset="-79"/>
                </a:endParaRPr>
              </a:p>
            </p:txBody>
          </p:sp>
          <p:sp>
            <p:nvSpPr>
              <p:cNvPr id="6" name="Rectangle 5"/>
              <p:cNvSpPr/>
              <p:nvPr/>
            </p:nvSpPr>
            <p:spPr>
              <a:xfrm>
                <a:off x="0" y="1337994"/>
                <a:ext cx="6858000" cy="14559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800" b="1" dirty="0"/>
                  <a:t>Trần Chiến Thịnh, Nguyễn Trọng Anh, Nguyễn Thị Thùy Linh</a:t>
                </a:r>
                <a:endParaRPr lang="en-US" sz="800" b="1" dirty="0"/>
              </a:p>
            </p:txBody>
          </p:sp>
          <p:pic>
            <p:nvPicPr>
              <p:cNvPr id="63" name="Picture 62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620895" y="1512206"/>
                <a:ext cx="1616210" cy="737377"/>
              </a:xfrm>
              <a:prstGeom prst="rect">
                <a:avLst/>
              </a:prstGeom>
            </p:spPr>
          </p:pic>
        </p:grpSp>
      </p:grpSp>
      <p:graphicFrame>
        <p:nvGraphicFramePr>
          <p:cNvPr id="73" name="Table 72"/>
          <p:cNvGraphicFramePr>
            <a:graphicFrameLocks noGrp="1"/>
          </p:cNvGraphicFramePr>
          <p:nvPr/>
        </p:nvGraphicFramePr>
        <p:xfrm>
          <a:off x="4027952" y="4740215"/>
          <a:ext cx="2789415" cy="19260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9415"/>
              </a:tblGrid>
              <a:tr h="255726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000" b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Công nghệ sử dụng</a:t>
                      </a:r>
                      <a:endParaRPr lang="en-US" sz="1000" b="1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F99"/>
                    </a:solidFill>
                  </a:tcPr>
                </a:tc>
              </a:tr>
              <a:tr h="1670284">
                <a:tc>
                  <a:txBody>
                    <a:bodyPr/>
                    <a:lstStyle/>
                    <a:p>
                      <a:pPr algn="just"/>
                      <a:endParaRPr lang="vi-VN" sz="900">
                        <a:latin typeface="Arial" panose="020B0604020202020204" pitchFamily="34" charset="0"/>
                        <a:cs typeface="Arial Hebrew Scholar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72" name="Picture 7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23334" y="5038901"/>
            <a:ext cx="2378325" cy="1608543"/>
          </a:xfrm>
          <a:prstGeom prst="rect">
            <a:avLst/>
          </a:prstGeom>
        </p:spPr>
      </p:pic>
      <p:graphicFrame>
        <p:nvGraphicFramePr>
          <p:cNvPr id="82" name="Table 81"/>
          <p:cNvGraphicFramePr>
            <a:graphicFrameLocks noGrp="1"/>
          </p:cNvGraphicFramePr>
          <p:nvPr>
            <p:custDataLst>
              <p:tags r:id="rId7"/>
            </p:custDataLst>
          </p:nvPr>
        </p:nvGraphicFramePr>
        <p:xfrm>
          <a:off x="67310" y="4528820"/>
          <a:ext cx="3890645" cy="50939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90645"/>
              </a:tblGrid>
              <a:tr h="268605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Giao </a:t>
                      </a:r>
                      <a:r>
                        <a:rPr lang="en-US" sz="1000" b="1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diện</a:t>
                      </a: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b="1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ứng</a:t>
                      </a: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b="1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dụng</a:t>
                      </a:r>
                      <a:endParaRPr lang="en-US" sz="1000" b="1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F99"/>
                    </a:solidFill>
                  </a:tcPr>
                </a:tc>
              </a:tr>
              <a:tr h="4825365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1000" b="1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89" name="Table 88"/>
          <p:cNvGraphicFramePr>
            <a:graphicFrameLocks noGrp="1"/>
          </p:cNvGraphicFramePr>
          <p:nvPr/>
        </p:nvGraphicFramePr>
        <p:xfrm>
          <a:off x="4027951" y="6682813"/>
          <a:ext cx="2789417" cy="14261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9417"/>
              </a:tblGrid>
              <a:tr h="146514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000" b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Platform</a:t>
                      </a:r>
                      <a:endParaRPr lang="en-US" sz="1000" b="1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233F99"/>
                    </a:solidFill>
                  </a:tcPr>
                </a:tc>
              </a:tr>
              <a:tr h="118234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90" name="Table 89"/>
          <p:cNvGraphicFramePr>
            <a:graphicFrameLocks noGrp="1"/>
          </p:cNvGraphicFramePr>
          <p:nvPr/>
        </p:nvGraphicFramePr>
        <p:xfrm>
          <a:off x="4021600" y="8131932"/>
          <a:ext cx="2789555" cy="1546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9417"/>
              </a:tblGrid>
              <a:tr h="146514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000" b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Hướng phát triển</a:t>
                      </a:r>
                      <a:endParaRPr lang="en-US" sz="1000" b="1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233F99"/>
                    </a:solidFill>
                  </a:tcPr>
                </a:tc>
              </a:tr>
              <a:tr h="1303020">
                <a:tc>
                  <a:txBody>
                    <a:bodyPr/>
                    <a:lstStyle/>
                    <a:p>
                      <a:r>
                        <a:rPr lang="en-US" sz="1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Phát</a:t>
                      </a:r>
                      <a:r>
                        <a:rPr lang="en-US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triển</a:t>
                      </a:r>
                      <a:r>
                        <a:rPr lang="en-US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thêm</a:t>
                      </a:r>
                      <a:r>
                        <a:rPr lang="en-US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các</a:t>
                      </a:r>
                      <a:r>
                        <a:rPr lang="en-US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chức</a:t>
                      </a:r>
                      <a:r>
                        <a:rPr lang="en-US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năng</a:t>
                      </a:r>
                      <a:r>
                        <a:rPr lang="en-US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:</a:t>
                      </a:r>
                      <a:endParaRPr lang="en-US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346075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en-US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Chuẩn hóa vận hành (phân quyền, duyệt nhiều cấp, kiểm soát chặt).</a:t>
                      </a:r>
                      <a:endParaRPr lang="en-US" altLang="en-US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346075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en-US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Nâng n</a:t>
                      </a:r>
                      <a:r>
                        <a:rPr lang="en-US" altLang="en-US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ă</a:t>
                      </a:r>
                      <a:r>
                        <a:rPr lang="en-US" altLang="en-US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ng lực quản trị (báo cáo, KPI, dashboard).</a:t>
                      </a:r>
                      <a:endParaRPr lang="en-US" altLang="en-US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346075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en-US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  <a:r>
                        <a:rPr lang="en-US" altLang="en-US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ă</a:t>
                      </a:r>
                      <a:r>
                        <a:rPr lang="en-US" altLang="en-US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ng mức </a:t>
                      </a:r>
                      <a:r>
                        <a:rPr lang="en-US" altLang="en-US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đ</a:t>
                      </a:r>
                      <a:r>
                        <a:rPr lang="en-US" altLang="en-US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ộ tích hợp và tự </a:t>
                      </a:r>
                      <a:r>
                        <a:rPr lang="en-US" altLang="en-US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đ</a:t>
                      </a:r>
                      <a:r>
                        <a:rPr lang="en-US" altLang="en-US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ộng hóa (calendar, email, API, cảnh báo).</a:t>
                      </a:r>
                      <a:endParaRPr lang="en-US" altLang="en-US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2" name="TextBox 91"/>
          <p:cNvSpPr txBox="1"/>
          <p:nvPr/>
        </p:nvSpPr>
        <p:spPr>
          <a:xfrm>
            <a:off x="3926293" y="9675760"/>
            <a:ext cx="295843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750" dirty="0">
                <a:latin typeface="Arial" panose="020B0604020202020204" pitchFamily="34" charset="0"/>
                <a:cs typeface="Arial Hebrew Scholar"/>
              </a:rPr>
              <a:t>©</a:t>
            </a:r>
            <a:r>
              <a:rPr lang="en-US" sz="750" dirty="0" err="1">
                <a:latin typeface="Arial" panose="020B0604020202020204" pitchFamily="34" charset="0"/>
                <a:cs typeface="Arial Hebrew Scholar"/>
              </a:rPr>
              <a:t>AIoTLab</a:t>
            </a:r>
            <a:r>
              <a:rPr lang="en-US" sz="750" dirty="0">
                <a:latin typeface="Arial" panose="020B0604020202020204" pitchFamily="34" charset="0"/>
                <a:cs typeface="Arial Hebrew Scholar"/>
              </a:rPr>
              <a:t>, Faculty of Information Technology, </a:t>
            </a:r>
            <a:r>
              <a:rPr lang="en-US" sz="750" dirty="0" err="1">
                <a:latin typeface="Arial" panose="020B0604020202020204" pitchFamily="34" charset="0"/>
                <a:cs typeface="Arial Hebrew Scholar"/>
              </a:rPr>
              <a:t>DaiNam</a:t>
            </a:r>
            <a:r>
              <a:rPr lang="en-US" sz="750" dirty="0">
                <a:latin typeface="Arial" panose="020B0604020202020204" pitchFamily="34" charset="0"/>
                <a:cs typeface="Arial Hebrew Scholar"/>
              </a:rPr>
              <a:t> University</a:t>
            </a:r>
            <a:endParaRPr lang="en-US" sz="750" dirty="0">
              <a:latin typeface="Arial" panose="020B0604020202020204" pitchFamily="34" charset="0"/>
              <a:cs typeface="Arial Hebrew Scholar"/>
            </a:endParaRPr>
          </a:p>
        </p:txBody>
      </p:sp>
      <p:grpSp>
        <p:nvGrpSpPr>
          <p:cNvPr id="1024" name="Group 1023"/>
          <p:cNvGrpSpPr/>
          <p:nvPr/>
        </p:nvGrpSpPr>
        <p:grpSpPr>
          <a:xfrm>
            <a:off x="4516179" y="7637257"/>
            <a:ext cx="683266" cy="362763"/>
            <a:chOff x="6071533" y="2197843"/>
            <a:chExt cx="683266" cy="367061"/>
          </a:xfrm>
        </p:grpSpPr>
        <p:sp>
          <p:nvSpPr>
            <p:cNvPr id="1025" name="TextBox 1024"/>
            <p:cNvSpPr txBox="1"/>
            <p:nvPr/>
          </p:nvSpPr>
          <p:spPr>
            <a:xfrm>
              <a:off x="6105590" y="2222338"/>
              <a:ext cx="649209" cy="3425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800" b="1">
                  <a:latin typeface="Arial Hebrew Scholar" pitchFamily="2" charset="-79"/>
                  <a:cs typeface="Arial Hebrew Scholar" pitchFamily="2" charset="-79"/>
                </a:rPr>
                <a:t>Github Platform</a:t>
              </a:r>
              <a:endParaRPr lang="en-US" sz="800" b="1" dirty="0">
                <a:latin typeface="Arial Hebrew Scholar" pitchFamily="2" charset="-79"/>
                <a:cs typeface="Arial Hebrew Scholar" pitchFamily="2" charset="-79"/>
              </a:endParaRPr>
            </a:p>
          </p:txBody>
        </p:sp>
        <p:pic>
          <p:nvPicPr>
            <p:cNvPr id="1026" name="Picture 4" descr="Github Logo - Free social media icons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 flipV="1">
              <a:off x="6071533" y="2197843"/>
              <a:ext cx="166522" cy="16652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035" name="Group 1034"/>
          <p:cNvGrpSpPr/>
          <p:nvPr/>
        </p:nvGrpSpPr>
        <p:grpSpPr>
          <a:xfrm>
            <a:off x="5679061" y="6971551"/>
            <a:ext cx="725093" cy="1027194"/>
            <a:chOff x="5729861" y="6934721"/>
            <a:chExt cx="725093" cy="1027194"/>
          </a:xfrm>
        </p:grpSpPr>
        <p:pic>
          <p:nvPicPr>
            <p:cNvPr id="1029" name="Picture 1028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729861" y="6934721"/>
              <a:ext cx="658860" cy="648000"/>
            </a:xfrm>
            <a:prstGeom prst="rect">
              <a:avLst/>
            </a:prstGeom>
          </p:spPr>
        </p:pic>
        <p:grpSp>
          <p:nvGrpSpPr>
            <p:cNvPr id="1031" name="Group 1030"/>
            <p:cNvGrpSpPr/>
            <p:nvPr/>
          </p:nvGrpSpPr>
          <p:grpSpPr>
            <a:xfrm>
              <a:off x="5771688" y="7623361"/>
              <a:ext cx="683266" cy="338554"/>
              <a:chOff x="6071533" y="2191497"/>
              <a:chExt cx="683266" cy="342566"/>
            </a:xfrm>
          </p:grpSpPr>
          <p:sp>
            <p:nvSpPr>
              <p:cNvPr id="1032" name="TextBox 1031"/>
              <p:cNvSpPr txBox="1"/>
              <p:nvPr/>
            </p:nvSpPr>
            <p:spPr>
              <a:xfrm>
                <a:off x="6105590" y="2191497"/>
                <a:ext cx="649209" cy="3425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800" b="1">
                    <a:latin typeface="Arial Hebrew Scholar" pitchFamily="2" charset="-79"/>
                    <a:cs typeface="Arial Hebrew Scholar" pitchFamily="2" charset="-79"/>
                  </a:rPr>
                  <a:t>Github FIT-DNU</a:t>
                </a:r>
                <a:endParaRPr lang="en-US" sz="800" b="1" dirty="0">
                  <a:latin typeface="Arial Hebrew Scholar" pitchFamily="2" charset="-79"/>
                  <a:cs typeface="Arial Hebrew Scholar" pitchFamily="2" charset="-79"/>
                </a:endParaRPr>
              </a:p>
            </p:txBody>
          </p:sp>
          <p:pic>
            <p:nvPicPr>
              <p:cNvPr id="1033" name="Picture 4" descr="Github Logo - Free social media icons"/>
              <p:cNvPicPr>
                <a:picLocks noChangeAspect="1" noChangeArrowheads="1"/>
              </p:cNvPicPr>
              <p:nvPr/>
            </p:nvPicPr>
            <p:blipFill>
              <a:blip r:embed="rId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800000" flipV="1">
                <a:off x="6071533" y="2197843"/>
                <a:ext cx="166522" cy="16652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pic>
        <p:nvPicPr>
          <p:cNvPr id="3" name="Hình ảnh 2" descr="Ảnh có chứa mẫu, hình vuông, điểm ảnh, thiết kế&#10;&#10;Nội dung do AI tạo ra có thể không chính xác.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4970" y="6967209"/>
            <a:ext cx="646309" cy="646309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010" y="6682740"/>
            <a:ext cx="3877945" cy="155892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755" y="8194675"/>
            <a:ext cx="3898900" cy="1646555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932170" y="1212215"/>
            <a:ext cx="760730" cy="744855"/>
          </a:xfrm>
          <a:prstGeom prst="rect">
            <a:avLst/>
          </a:prstGeom>
        </p:spPr>
      </p:pic>
      <p:pic>
        <p:nvPicPr>
          <p:cNvPr id="14" name="Picture 2" descr="Kiến trúc trong OpenERP | ERPOnline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7170" y="3059430"/>
            <a:ext cx="2783840" cy="1085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14"/>
          <a:srcRect t="2749"/>
          <a:stretch>
            <a:fillRect/>
          </a:stretch>
        </p:blipFill>
        <p:spPr>
          <a:xfrm>
            <a:off x="67310" y="4789170"/>
            <a:ext cx="3877945" cy="189357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306*593"/>
  <p:tag name="TABLE_ENDDRAG_RECT" val="5*185*306*593"/>
</p:tagLst>
</file>

<file path=ppt/tags/tag2.xml><?xml version="1.0" encoding="utf-8"?>
<p:tagLst xmlns:p="http://schemas.openxmlformats.org/presentationml/2006/main">
  <p:tag name="TABLE_ENDDRAG_ORIGIN_RECT" val="219*185"/>
  <p:tag name="TABLE_ENDDRAG_RECT" val="317*185*219*185"/>
</p:tagLst>
</file>

<file path=ppt/tags/tag3.xml><?xml version="1.0" encoding="utf-8"?>
<p:tagLst xmlns:p="http://schemas.openxmlformats.org/presentationml/2006/main">
  <p:tag name="TABLE_ENDDRAG_ORIGIN_RECT" val="306*401"/>
  <p:tag name="TABLE_ENDDRAG_RECT" val="5*373*306*401"/>
</p:tagLst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1147</Words>
  <Application>WPS Presentation</Application>
  <PresentationFormat>Khổ A4 (210x297 mm)</PresentationFormat>
  <Paragraphs>41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2" baseType="lpstr">
      <vt:lpstr>Arial</vt:lpstr>
      <vt:lpstr>SimSun</vt:lpstr>
      <vt:lpstr>Wingdings</vt:lpstr>
      <vt:lpstr>Arial Hebrew Scholar</vt:lpstr>
      <vt:lpstr>Arial Hebrew Scholar</vt:lpstr>
      <vt:lpstr>Calibri</vt:lpstr>
      <vt:lpstr>Microsoft YaHei</vt:lpstr>
      <vt:lpstr>Arial Unicode MS</vt:lpstr>
      <vt:lpstr>Calibri Light</vt:lpstr>
      <vt:lpstr>Segoe UI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</dc:title>
  <dc:creator>Thái Khánh Nguyễn</dc:creator>
  <cp:lastModifiedBy>Chiến Thịnh Trần</cp:lastModifiedBy>
  <cp:revision>102</cp:revision>
  <dcterms:created xsi:type="dcterms:W3CDTF">2023-07-02T07:57:00Z</dcterms:created>
  <dcterms:modified xsi:type="dcterms:W3CDTF">2026-01-29T04:19:40Z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3DBCF4753E254CA9B23722075BECB2B1_12</vt:lpwstr>
  </property>
  <property fmtid="{D5CDD505-2E9C-101B-9397-08002B2CF9AE}" pid="3" name="KSOProductBuildVer">
    <vt:lpwstr>1033-12.2.0.22549</vt:lpwstr>
  </property>
</Properties>
</file>